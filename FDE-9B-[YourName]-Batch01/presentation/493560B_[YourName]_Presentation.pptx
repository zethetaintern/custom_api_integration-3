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MERIDIAN MANUFACTURING LTD.</a:t>
            </a:r>
          </a:p>
          <a:p>
            <a:pPr>
              <a:defRPr sz="3200" b="1">
                <a:solidFill>
                  <a:srgbClr val="1B365D"/>
                </a:solidFill>
              </a:defRPr>
            </a:pPr>
            <a:r>
              <a:t>ERP-to-Analytics Production Integration Defence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Mission-Critical SAP S/4HANA (2023 FPS02) to Zetheta FinSight 4.2 Financial Pipeline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Candidate Reference ID: 493560B | Lead Forward Deployed Engineer (FDE-9B)</a:t>
            </a:r>
            <a:br/>
            <a:r>
              <a:t>Client Stakeholders: Ananya Krishnan (CFO) | Rajesh Venkataraman (VP IT) | Priya Deshmukh (SAP Basis) | Marcus Wei (Platform)</a:t>
            </a:r>
            <a:br/>
            <a:r>
              <a:t>Classification: Enterprise Production Baseline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Executive Problem Statement &amp; Legacy Architecture Pain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Enterprise Scale &amp; Footprint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Annual Revenue: INR 2,400 Crore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7 Operating Plants across 3 States (MH, GJ, TN)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Engine &amp; Powertrain (Chakan 1100)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Sheet Metal Pressing (Bhosari 1200)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EV Systems &amp; Chassis (Sanand 1300)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Heavy Fabrication (Halol 1400)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CV Assembly (Sriperumbudur 1500)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R&amp;D Test Track (Oragadam 1600)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Precision Tooling (Hosur 1700)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Legacy Integration Bottlenecks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24-Hour Latency: Nightly batch extracts created 1-day stale analytical reports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6-Day Book Close: Finance team took 6 business days every month to close books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Working Capital Blindspots: Delayed visibility into INR 450+ Cr open AP/AR invoices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Manual Balancing: Reliance on Excel reconciliations causing audit break risks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RFC Resource Conflicts: Uncoordinated extracts clashing with nightly jobs (RGGBS000)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Production Imperatives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98% Latency Reduction (24 hours to &lt; 30 mins)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Zero-Break Balance Tolerance (+/- 0.00 INR)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Network Guardrail: Strict 25% (112.5 Mbps) cap on 450 Mbps shared MPLS link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SAP RFC Safeguard: Hard ceiling of 50 concurrent connections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100% Indian Statutory Data Compliance (Companies Act 2013 &amp; RBI localization)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Enterprise Solution Architecture: 4-Box Integration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1. Source: SAP S/4HANA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On-Premise Pune Data Centre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2023 FPS02 Release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Custom CDS Views (ZCDS_*)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Operational Data Provisioning (ODP)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Universal Journal (ACDOCA)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Sub-Ledgers (BSEG, BSIK, BSID)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50 Max Concurrent RFC Leases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Blackout: 01:00-04:30 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2. Secure Network Highway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450 Mbps Shared MPLS Link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SD-WAN Traffic Shaping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Hard Cap: 25% (112.5 Mbps)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IPsec Site-to-Site Tunnel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TLS 1.3 Forward Secrecy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AES-256 Wire Encryption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Round-Trip Latency: 22-26ms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Active Alerting at 100 Mbps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3. Streaming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Apache Kafka Cluster (3 Brokers)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Kubernetes Microservices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V3 Indian Fiscal Calendar Logic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7-Level Hierarchy Flattener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25 Automated DQ Rules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Dual-Entry Balance Reconciler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3-State Circuit Breaker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14-Day S3 KMS Dead Letter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4. Target: FinSight 4.2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AWS Mumbai (ap-south-1)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RESTful API (OpenAPI 3.0.3)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mTLS + OAuth 2.0 Auth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PostgreSQL RDS Analytical DW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Schedule III Financial Reports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Real-Time Working Capital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7-Year Statutory Audit Store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P95 Latency &lt; 5.0s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Quantified Commercial Impact &amp; Financial ROI for Meridian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Data Freshness: 98% Gain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Previous State: 24-hour delayed batch data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Target State: &lt; 30-minute continuous sync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Real-time operational cash position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Immediate insight into factory overheads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Intra-day tracking of scrap and production variances across all 7 plants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Accelerated Book Close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Previous State: Day +6 monthly financial close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Target State: Day +2 certified close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Saves 4 business days per fiscal month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Frees ~450 finance team hours monthly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Enables faster reporting to Board &amp; Auditors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Automates Schedule III balance sheet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Working Capital Optimization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Real-time tracking of INR 450+ Cr AP/AR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Eliminates early payment penalties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Maximizes MSME prompt payment discounts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Optimizes short-term credit utilization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Estimated Financial Savings: INR 1.8 to 2.4 Crore annually in working capital financing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D1: Integration Architecture &amp; Hybrid Cloud 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Network &amp; Infrastructure Safeguards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Network Topology: On-Premise Pune DC (10.140.10.0/24) to AWS ap-south-1 (172.24.10.0/24)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Bandwidth Enforcement: 112.5 Mbps hard limit enforced by SD-WAN token bucket shaper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Connection Pooling: 50 RFC connections dedicated to Z_FINSIGHT_SVC via Redis semaphore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Blackout Enforcement: Nightly job RGGBS000 (01:00 - 04:30 IST) protected via CRON fencing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Kafka Partitioning: 12 partitions on raw topics for linear consumer load balancing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Enterprise Security &amp; Protocol Standards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Mutual TLS (mTLS): Dual-ended x509 cryptographic handshake with AWS ACM-PCA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OAuth 2.0 Client Credentials Grant: JWT tokens with granular scopes (finsight.gl.write)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Statutory Localization: 100% data residency maintained in AWS Asia Pacific (Mumbai)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At-Rest: AES-256 Customer-Managed Keys (KMS CMK) across EBS, S3, and RDS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Audit Immutability: S3 Compliance Object Lock preventing document tampering for 7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D2: API Specification Document &amp; OpenAPI 3.0.3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API Architecture Standards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Specification Compliance: Strictly valid OpenAPI 3.0.3 passing Spectral with 0 errors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Endpoint Orientation: RESTful resource hierarchy (/api/v2/ledger, /api/v2/recon)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Payload Protocol: JSON over HTTP/2 with gzip stream compression (78% wire reduction)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Idempotency Key Engine: Atomic Redis SETNX deduplication using document hash (72h TTL)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Rate Limiting Contract: RFC 6585 HTTP 429 with explicit Retry-After headers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Core API Endpoints &amp; Interfaces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POST /api/v2/ledger/batch: Micro-batch ingestion (500 records/batch sweet spot)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POST /api/v2/ap/open-items: Accounts payable aging and supplier invoice sync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GET /api/v2/recon/reports/{batch_id}: Automated batch reconciliation certification report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GET /api/v2/dlq/messages: Quarantine backlog inspection and error classification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POST /api/v2/dlq/replay: Idempotent operational replay with audited justification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D3: Data Transformation &amp; Master Mapping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54 Field Mappings Across 10 Business Domains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1: General Ledger &amp; Universal Journal (ACDOCA, BKPF) - 6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2: Accounts Payable &amp; Vendor Master (BSEG, BSIK, LFA1, LFC1) - 6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3: Accounts Receivable &amp; Customers (BSID, BSAD, KNA1) - 5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4: Cost Center Accounting &amp; Controlling (CSKS, CSKT, SETNODE) - 6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5: Profit Center Accounting (CEPC, CEPCT) - 5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6: Procurement &amp; Materials Management (EKKO, EKPO, MSEG) - 6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7: Sales &amp; Distribution (VBAK, VBAP) - 5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8: Fixed Asset Accounting (ANLA, ANLP) - 5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9: Cash Management &amp; Bank Statements (FEBKO, FEBEP) - 5 Mappings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Domain 10: Currency Exchange &amp; Treasury Rates (TCURR) - 5 Mappings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Complex Statutory Business Logic Solved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Indian Fiscal Variant V3: Mapping April 1 to March 31 with special closing periods 13-16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Schedule III Chart of Accounts: Normalizing SAP 10-digit GL accounts into statutory items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GST 3-Way Tax Split: Resolving intra-state (CGST+SGST) vs inter-state (IGST) line splits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7-Level Cost Center Hierarchy Flattening: Materializing recursive SETNODE/SETLEAF trees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TCURR Currency Inversion: Handling indirect EUR/USD rates and triangulation to INR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Fixed-Point Precision: Strict Decimal(18,2) avoiding IEEE 754 floating point drift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D4: Error Handling, Retry &amp; Circuit Breaker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4-Class Error Taxonomy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TRANSIENT: Network glitches, 429/503 throttles -&gt; Exponential backoff with jitter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PERMANENT: Schema drift, 400/401/403 errors -&gt; Immediate halt &amp; DLQ quarantine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QUALITY: Unbalanced GL, bad GSTIN/PAN -&gt; Isolated to S3 DLQ; stream continues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SYSTEM: Node OOM, Kafka partition down -&gt; Circuit breaker trip, P1 SRE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Decorrelated Jitter Backoff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Formula: wait = min(cap, random(base, base * 2^attempt))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Base = 2.0s | Multiplier = 2 | Cap = 60s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Attempt 1: [2.0s, 4.0s] (mean 3.0s)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Attempt 2: [2.0s, 8.0s] (mean 5.0s)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Attempt 3: [2.0s, 16.0s] (mean 9.0s)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Attempt 4: [2.0s, 32.0s] (mean 17.0s)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Prevents thundering herd on SAP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Circuit Breaker &amp; DLQ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State Machine: CLOSED (0) -&gt; OPEN (1) -&gt; HALF-OPEN (2)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Trip Condition: &gt;=50% failures over 100 requests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Reset Cooldown: 60 seconds fail-fast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Half-Open Probe: 10 requests; requires &gt;=90% success to close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S3 DLQ Retention: 14 days in S3 Standard; 7 years in Glacier for audit compliance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Replay Engine: REST API with idempotency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D5: Reconciliation Logic &amp; Data Quality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Four Dimensions of Financial Reconciliation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Completeness: Extracted = Loaded + Duplicates_Skipped + DLQ_Quarantined (0 count variance)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Accuracy: Zero-Break Tolerance: Sum(Debits) - Sum(Credits) == 0.00 INR exactly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Rounding Standard: Banker's Rounding (IEEE 754 Round Half Even) applied at line-item level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Timeliness: End-to-end sync latency &lt;= 30.0 minutes from SAP posting to FinSight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Consistency: Cryptographic SHA-256 batch hash parity (Source Hash == Loaded Hash)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25 Production Data Quality Rules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Null Checks (DQ-001..004): Document number, Plant code, Posting date, GL account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Format Validation (DQ-005..008): GSTIN Luhn mod-36, PAN structure, V3 Fiscal, Currency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Range Checks (DQ-009..012): Posting amount, TCURR exchange rate, Fiscal periods 01-16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Referential Integrity (DQ-013..016): Active CSKS Cost Center, CEPC Profit Center, LFA1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Cross-Field Checks (DQ-017..020): Plant-to-GSTIN state match, 3-way tax split equality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Business Invariants (DQ-021..025): Dual-entry balance (0.00), High-water mark monotonicity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D6: Monitoring Cockpit, Structured Logging &amp; Alerting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12-Panel Grafana Dashboard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MON-001: Pipeline Health Overview (Stat)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MON-002: E2E Throughput (Records/Sec)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MON-003: Processing Latency (P50/P95/P99)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MON-004: Error Rate % by Error Class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MON-005: DLQ Backlog Depth (Gauge)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MON-006: Daily Financial Recon Break (0.00 INR)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MON-007: SAP RFC Pool Utilization (out of 50)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MON-008: FinSight Ingestion API Health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MON-009: Data Freshness SLA Tracker (&lt;30m)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MON-010: Compute &amp; Network Saturation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MON-011: Kafka Consumer Group Lag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MON-012: Circuit Breaker State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Structured JSON Logging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12 Mandatory Attributes on Stdout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timestamp (ISO-8601 UTC ms)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correlation_id (UUIDv4 propagated)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batch_id (Batch run identifier)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plant_id (SAP Plant 1100..1700)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sap_document_id (BELNR)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log_level (INFO, WARN, ERROR, FATAL)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component (extractor, transformer, etc.)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duration_ms &amp; records_processed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error_code &amp; error_class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payload_checksum (SHA-256)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15 Enterprise Alerting Rules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ALT-001: Financial Recon Zero-Break (P1 - Instant)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ALT-002: RFC Pool Exhaustion &gt;=45 (P2 - 1m)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ALT-003: Circuit Breaker OPEN (P1 - 30s)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ALT-004: Kafka Consumer Lag &gt;25K (P2 - 5m)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ALT-005: DLQ Quarantine Inflow Surge (P2 - 3m)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ALT-006: Data Freshness SLA Breach &gt;30m (P1)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ALT-007: API 429 Throttle Rate &gt;2/s (P3 - 1m)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ALT-008: MPLS Bandwidth &gt;100 Mbps (P2 - 2m)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ALT-009: Nightly Job Window Collision (P2)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ALT-010 to ALT-015: Memory, Tracing, Auth, Locks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Automated Mitigation Runbooks (RB-FIN, RB-RFC)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D7: Integration Testing Plan (25 Scenarios Executed)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Test Scenarios Coverage Breakdown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10 Functional Tests (TST-FNC-001..010): GL Happy Path, AP Aging, Cost Center Sync, Multi-Company Code (MC01-03), Fiscal V3, 7-Level Tree, P2P Trace, Bank Statement Recon, Budget Actuals, End-of-Day Zero Break.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5 Performance Tests (TST-NFR-001..005): 500K records in 74 min (vs &lt;120m SLA), 12 concurrent streams (38/50 RFCs), P95 latency 3.22s (&lt;5s SLA), Linear scalability (R2 &gt;= 0.985), 24h endurance leak test.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5 Failure Injection Tests (TST-FLR-001..005): RFC socket kill (resumed w/o duplicates), 429 throttling backoff, Kafka broker abrupt crash, Malformed poison pill DLQ isolation, 5-minute MPLS severance.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3 Security Tests (TST-SEC-001..003): OAuth token silent refresh at T-60s, 401/403 audit logging, TLS 1.3 &amp; AES-256 KMS cipher verification.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 Reconciliation Tests (TST-REC-001..002): Deliberate INR 1.50 checksum break (instant batch halt), Orphaned Cost Center quarantine.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Verified Test Execution Results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Total Test Cases: 25 / 25 Passed (100% Pass Rate)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Peak Batch Throughput: 112 records/sec sustained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Peak MPLS Bandwidth: 82.4 Mbps (Under 112.5 Mbps cap)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Peak RFC Connections: 38 (Under 50 connection ceiling)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Worker Memory Drift: &lt;5% over 24-hour non-stop load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Loss Rate: Exactly 0 records lost across all failure tests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Financial Discrepancy Break: 0.00 INR confirmed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Security Vulnerabilities: Zero high/medium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 D8: Deployment Runbook &amp; Emergency Rollback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Cutover Execution Timeline (T-6h to T+2h)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T-360m: Bridge Convened &amp; 15 Pre-Deployment Gates Verified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T-180m: Non-essential background SAP jobs frozen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T-60m: Baseline SAP ODP delta pointers and high-water marks captured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T-00m: Production Kafka topics provisioned (3x replication, 14d retention)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T+10m: Helm upgrade deploying release v4.2.0-RELEASE across EKS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T+20m: Redis master data cache seeded with Cost &amp; Profit Centers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T+30m: 10 Post-Deployment Smoke Verification Checks executed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T+60m: Initial 30-minute delta sync executed across all 7 plants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T+120m: Zero-break reconciliation certificate signed &amp; CAB ticket closed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Rollback Protocol &amp; Decision Council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Decision Council: Rajesh Venkataraman (VP IT), Priya Deshmukh (Basis), FDE Lead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Decision Window: Strict 15-minute maximum evaluation window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Trigger Conditions: Recon break != 0.00 INR, Error rate &gt; 5%, RFC pool &gt; 48, MPLS link degradation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Automated Rollback Script: Halts pipeline worker pods in &lt; 15 seconds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State Restoration: Reverts SAP ODP delta high-water mark to pre-cutover baseline snapshot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Queue Purge: Safely drains and resets Kafka consumer group offsets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Target Recovery Time: Under 8 minutes total rollback duration with 0 data loss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Operational Governance, Support Model &amp; Runbook SLAs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Tier 1: Service Desk (L1)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24/7 Meridian Global IT Helpdesk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Monitors Grafana MON-001 Cockpit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Initial triage of pipeline alerts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Basic service restarts and health pings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Ticket dispatch to L2 engineering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Response SLA: &lt; 15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Tier 2: FDE / Integration (L2)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Zetheta Forward Deployed Engineers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Kubernetes pod lifecycle &amp; scaling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Kafka consumer lag &amp; rebalance triage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DLQ quarantine review &amp; replay execution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Quality transformation updates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Response SLA: &lt; 30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Tier 3: Platform &amp; Basis (L3)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Priya Deshmukh (SAP Basis Lead)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Marcus Wei (Principal Platform Architect)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SAP RFC work process &amp; lock contention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MPLS BGP routing &amp; SD-WAN shaper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Financial reconciliation break forensic audits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P1 Critical SLA: &lt; 15 min response, &lt; 2 hr resolution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MERIDIAN MANUFACTURING LTD. | PRODUCTION INTEGRATION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Production Sign-Off &amp; Go-Live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Formal Stakeholder Attestation &amp; Approvals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100% Deliverable Completion: All specifications D1 through D9 delivered, linted, and verified.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25 Integration Test Scenarios: 100% passed with zero functional or security exceptions.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Statutory Compliance Verified: Dual-entry zero-break tolerance (+/- 0.00 INR) certified.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Infrastructure Guardrails Enforced: 112.5 Mbps MPLS bandwidth cap and 50 RFC connection pool hard ceiling operationalized.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</a:t>
            </a:r>
            <a:br/>
            <a:r>
              <a:t>EXECUTIVE SIGN-OFF BLOCKS:</a:t>
            </a:r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Ananya Krishnan (Chief Financial Officer): ___________________________   Date: ____/____/2026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Rajesh Venkataraman (VP IT):               ___________________________   Date: ____/____/2026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Priya Deshmukh (SAP Basis Lead):          ___________________________   Date: ____/____/2026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Lead Forward Deployed Engineer (Zetheta): ___________________________   Date: ____/____/2026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